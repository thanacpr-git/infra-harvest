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image" Target="../media/image-2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9.png"/><Relationship Id="rId10" Type="http://schemas.openxmlformats.org/officeDocument/2006/relationships/image" Target="../media/image-8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image" Target="../media/image-12-3.png"/><Relationship Id="rId4" Type="http://schemas.openxmlformats.org/officeDocument/2006/relationships/image" Target="../media/image-12-4.svg"/><Relationship Id="rId5" Type="http://schemas.openxmlformats.org/officeDocument/2006/relationships/image" Target="../media/image-12-5.png"/><Relationship Id="rId6" Type="http://schemas.openxmlformats.org/officeDocument/2006/relationships/image" Target="../media/image-12-6.svg"/><Relationship Id="rId7" Type="http://schemas.openxmlformats.org/officeDocument/2006/relationships/image" Target="../media/image-12-7.png"/><Relationship Id="rId8" Type="http://schemas.openxmlformats.org/officeDocument/2006/relationships/image" Target="../media/image-12-8.svg"/><Relationship Id="rId9" Type="http://schemas.openxmlformats.org/officeDocument/2006/relationships/image" Target="../media/image-12-9.png"/><Relationship Id="rId10" Type="http://schemas.openxmlformats.org/officeDocument/2006/relationships/image" Target="../media/image-12-10.sv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3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5486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Kiro IDE for AWS</a:t>
            </a:r>
            <a:endParaRPr lang="en-US" sz="36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Operations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34747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step-by-step guide for Operation Teams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39319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installation to ticket management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583680" y="457200"/>
            <a:ext cx="2286000" cy="4206240"/>
          </a:xfrm>
          <a:prstGeom prst="roundRect">
            <a:avLst>
              <a:gd name="adj" fmla="val 8000"/>
            </a:avLst>
          </a:prstGeom>
          <a:solidFill>
            <a:srgbClr val="C44536">
              <a:alpha val="70000"/>
            </a:srgbClr>
          </a:solidFill>
          <a:ln/>
        </p:spPr>
      </p:sp>
      <p:pic>
        <p:nvPicPr>
          <p:cNvPr id="6" name="Image 0" descr="icon_0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32320" y="2011680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828800" cy="36576"/>
          </a:xfrm>
          <a:prstGeom prst="rect">
            <a:avLst/>
          </a:prstGeom>
          <a:solidFill>
            <a:srgbClr val="C4453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8229600" cy="640080"/>
          </a:xfrm>
          <a:prstGeom prst="roundRect">
            <a:avLst>
              <a:gd name="adj" fmla="val 7143"/>
            </a:avLst>
          </a:prstGeom>
          <a:solidFill>
            <a:srgbClr val="F5F5F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4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pic>
        <p:nvPicPr>
          <p:cNvPr id="6" name="Image 0" descr="icon_1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88720" y="14173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128016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Kiro with SSO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57200" y="2029968"/>
            <a:ext cx="822960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2029968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4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pic>
        <p:nvPicPr>
          <p:cNvPr id="10" name="Image 1" descr="icon_2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88720" y="2167128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737360" y="2029968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AWS CLI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457200" y="2779776"/>
            <a:ext cx="8229600" cy="640080"/>
          </a:xfrm>
          <a:prstGeom prst="roundRect">
            <a:avLst>
              <a:gd name="adj" fmla="val 7143"/>
            </a:avLst>
          </a:prstGeom>
          <a:solidFill>
            <a:srgbClr val="F5F5F5"/>
          </a:solidFill>
          <a:ln/>
        </p:spPr>
      </p:sp>
      <p:sp>
        <p:nvSpPr>
          <p:cNvPr id="13" name="Text 9"/>
          <p:cNvSpPr/>
          <p:nvPr/>
        </p:nvSpPr>
        <p:spPr>
          <a:xfrm>
            <a:off x="640080" y="2779776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4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pic>
        <p:nvPicPr>
          <p:cNvPr id="14" name="Image 2" descr="icon_3.sv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88720" y="2916936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737360" y="2779776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workload info with Steering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457200" y="3529584"/>
            <a:ext cx="822960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</p:spPr>
      </p:sp>
      <p:sp>
        <p:nvSpPr>
          <p:cNvPr id="17" name="Text 12"/>
          <p:cNvSpPr/>
          <p:nvPr/>
        </p:nvSpPr>
        <p:spPr>
          <a:xfrm>
            <a:off x="640080" y="3529584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4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pic>
        <p:nvPicPr>
          <p:cNvPr id="18" name="Image 3" descr="icon_4.sv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88720" y="3666744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737360" y="3529584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AWS Support tickets</a:t>
            </a:r>
            <a:endParaRPr lang="en-US" sz="1500" dirty="0"/>
          </a:p>
        </p:txBody>
      </p:sp>
      <p:sp>
        <p:nvSpPr>
          <p:cNvPr id="20" name="Shape 14"/>
          <p:cNvSpPr/>
          <p:nvPr/>
        </p:nvSpPr>
        <p:spPr>
          <a:xfrm>
            <a:off x="457200" y="4279392"/>
            <a:ext cx="8229600" cy="640080"/>
          </a:xfrm>
          <a:prstGeom prst="roundRect">
            <a:avLst>
              <a:gd name="adj" fmla="val 7143"/>
            </a:avLst>
          </a:prstGeom>
          <a:solidFill>
            <a:srgbClr val="F5F5F5"/>
          </a:solidFill>
          <a:ln/>
        </p:spPr>
      </p:sp>
      <p:sp>
        <p:nvSpPr>
          <p:cNvPr id="21" name="Text 15"/>
          <p:cNvSpPr/>
          <p:nvPr/>
        </p:nvSpPr>
        <p:spPr>
          <a:xfrm>
            <a:off x="640080" y="4279392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4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pic>
        <p:nvPicPr>
          <p:cNvPr id="22" name="Image 4" descr="icon_5.sv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88720" y="4416552"/>
            <a:ext cx="365760" cy="36576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737360" y="4279392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 team engagement via Chat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Install Kiro IDE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371600" cy="36576"/>
          </a:xfrm>
          <a:prstGeom prst="rect">
            <a:avLst/>
          </a:prstGeom>
          <a:solidFill>
            <a:srgbClr val="C4453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14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from kiro.dev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14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for macOS, Windows, Linux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14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with AWS IAM Identity Center (SSO)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97180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14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Start URL + Region from your admin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760720" y="1097280"/>
            <a:ext cx="3017520" cy="3474720"/>
          </a:xfrm>
          <a:prstGeom prst="roundRect">
            <a:avLst>
              <a:gd name="adj" fmla="val 4545"/>
            </a:avLst>
          </a:prstGeom>
          <a:solidFill>
            <a:srgbClr val="FFF0E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0" y="12344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4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Options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126480" y="17373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✓"/>
            </a:pPr>
            <a:r>
              <a:rPr lang="en-US" sz="11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126480" y="2240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✓"/>
            </a:pPr>
            <a:r>
              <a:rPr lang="en-US" sz="11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126480" y="27432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✓"/>
            </a:pPr>
            <a:r>
              <a:rPr lang="en-US" sz="11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Builder ID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126480" y="32461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✓"/>
            </a:pPr>
            <a:r>
              <a:rPr lang="en-US" sz="11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IAM Identity Center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126480" y="37490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✓"/>
            </a:pPr>
            <a:r>
              <a:rPr lang="en-US" sz="11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IdP (Okta/Entra)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Authentication Flow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371600" cy="36576"/>
          </a:xfrm>
          <a:prstGeom prst="rect">
            <a:avLst/>
          </a:prstGeom>
          <a:solidFill>
            <a:srgbClr val="C44536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645920"/>
            <a:ext cx="1600200" cy="1463040"/>
          </a:xfrm>
          <a:prstGeom prst="roundRect">
            <a:avLst>
              <a:gd name="adj" fmla="val 6250"/>
            </a:avLst>
          </a:prstGeom>
          <a:solidFill>
            <a:srgbClr val="2D314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"Sign in with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IAM Identity Center"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" y="1188720"/>
            <a:ext cx="411480" cy="411480"/>
          </a:xfrm>
          <a:prstGeom prst="ellipse">
            <a:avLst/>
          </a:prstGeom>
          <a:solidFill>
            <a:srgbClr val="C4453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74520" y="2377440"/>
            <a:ext cx="182880" cy="0"/>
          </a:xfrm>
          <a:prstGeom prst="line">
            <a:avLst/>
          </a:prstGeom>
          <a:noFill/>
          <a:ln w="25400">
            <a:solidFill>
              <a:srgbClr val="C44536"/>
            </a:solidFill>
            <a:prstDash val="solid"/>
            <a:tailEnd type="arrow"/>
          </a:ln>
        </p:spPr>
      </p:sp>
      <p:sp>
        <p:nvSpPr>
          <p:cNvPr id="7" name="Text 5"/>
          <p:cNvSpPr/>
          <p:nvPr/>
        </p:nvSpPr>
        <p:spPr>
          <a:xfrm>
            <a:off x="2057400" y="1645920"/>
            <a:ext cx="1600200" cy="1463040"/>
          </a:xfrm>
          <a:prstGeom prst="roundRect">
            <a:avLst>
              <a:gd name="adj" fmla="val 6250"/>
            </a:avLst>
          </a:prstGeom>
          <a:solidFill>
            <a:srgbClr val="2D314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Start URL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(from your admin)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651760" y="1188720"/>
            <a:ext cx="411480" cy="411480"/>
          </a:xfrm>
          <a:prstGeom prst="ellipse">
            <a:avLst/>
          </a:prstGeom>
          <a:solidFill>
            <a:srgbClr val="C4453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0" y="2377440"/>
            <a:ext cx="182880" cy="0"/>
          </a:xfrm>
          <a:prstGeom prst="line">
            <a:avLst/>
          </a:prstGeom>
          <a:noFill/>
          <a:ln w="25400">
            <a:solidFill>
              <a:srgbClr val="C44536"/>
            </a:solidFill>
            <a:prstDash val="solid"/>
            <a:tailEnd type="arrow"/>
          </a:ln>
        </p:spPr>
      </p:sp>
      <p:sp>
        <p:nvSpPr>
          <p:cNvPr id="10" name="Text 8"/>
          <p:cNvSpPr/>
          <p:nvPr/>
        </p:nvSpPr>
        <p:spPr>
          <a:xfrm>
            <a:off x="3840480" y="1645920"/>
            <a:ext cx="1600200" cy="1463040"/>
          </a:xfrm>
          <a:prstGeom prst="roundRect">
            <a:avLst>
              <a:gd name="adj" fmla="val 6250"/>
            </a:avLst>
          </a:prstGeom>
          <a:solidFill>
            <a:srgbClr val="2D314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AWS Region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(hosting identity directory)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434840" y="1188720"/>
            <a:ext cx="411480" cy="411480"/>
          </a:xfrm>
          <a:prstGeom prst="ellipse">
            <a:avLst/>
          </a:prstGeom>
          <a:solidFill>
            <a:srgbClr val="C4453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40680" y="2377440"/>
            <a:ext cx="182880" cy="0"/>
          </a:xfrm>
          <a:prstGeom prst="line">
            <a:avLst/>
          </a:prstGeom>
          <a:noFill/>
          <a:ln w="25400">
            <a:solidFill>
              <a:srgbClr val="C44536"/>
            </a:solidFill>
            <a:prstDash val="solid"/>
            <a:tailEnd type="arrow"/>
          </a:ln>
        </p:spPr>
      </p:sp>
      <p:sp>
        <p:nvSpPr>
          <p:cNvPr id="13" name="Text 11"/>
          <p:cNvSpPr/>
          <p:nvPr/>
        </p:nvSpPr>
        <p:spPr>
          <a:xfrm>
            <a:off x="5623560" y="1645920"/>
            <a:ext cx="1600200" cy="1463040"/>
          </a:xfrm>
          <a:prstGeom prst="roundRect">
            <a:avLst>
              <a:gd name="adj" fmla="val 6250"/>
            </a:avLst>
          </a:prstGeom>
          <a:solidFill>
            <a:srgbClr val="2D314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redirects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IdP for auth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217920" y="1188720"/>
            <a:ext cx="411480" cy="411480"/>
          </a:xfrm>
          <a:prstGeom prst="ellipse">
            <a:avLst/>
          </a:prstGeom>
          <a:solidFill>
            <a:srgbClr val="C4453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223760" y="2377440"/>
            <a:ext cx="182880" cy="0"/>
          </a:xfrm>
          <a:prstGeom prst="line">
            <a:avLst/>
          </a:prstGeom>
          <a:noFill/>
          <a:ln w="25400">
            <a:solidFill>
              <a:srgbClr val="C44536"/>
            </a:solidFill>
            <a:prstDash val="solid"/>
            <a:tailEnd type="arrow"/>
          </a:ln>
        </p:spPr>
      </p:sp>
      <p:sp>
        <p:nvSpPr>
          <p:cNvPr id="16" name="Text 14"/>
          <p:cNvSpPr/>
          <p:nvPr/>
        </p:nvSpPr>
        <p:spPr>
          <a:xfrm>
            <a:off x="7406640" y="1645920"/>
            <a:ext cx="1600200" cy="1463040"/>
          </a:xfrm>
          <a:prstGeom prst="roundRect">
            <a:avLst>
              <a:gd name="adj" fmla="val 6250"/>
            </a:avLst>
          </a:prstGeom>
          <a:solidFill>
            <a:srgbClr val="2E8B5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established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ready to code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001000" y="1188720"/>
            <a:ext cx="411480" cy="411480"/>
          </a:xfrm>
          <a:prstGeom prst="ellipse">
            <a:avLst/>
          </a:prstGeom>
          <a:solidFill>
            <a:srgbClr val="C4453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GovCloud regions require Start URL containing "us-gov-home". Kiro IDE v0.9.2+ required.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Set Up AWS CLI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371600" cy="36576"/>
          </a:xfrm>
          <a:prstGeom prst="rect">
            <a:avLst/>
          </a:prstGeom>
          <a:solidFill>
            <a:srgbClr val="C4453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8229600" cy="3474720"/>
          </a:xfrm>
          <a:prstGeom prst="roundRect">
            <a:avLst>
              <a:gd name="adj" fmla="val 2632"/>
            </a:avLst>
          </a:prstGeom>
          <a:solidFill>
            <a:srgbClr val="1E1E1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1463040"/>
            <a:ext cx="77724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Install AWS CLI v2 (macOS)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curl "https://awscli.amazonaws.com/AWSCLIV2.pkg" -o AWSCLIV2.pkg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sudo installer -pkg AWSCLIV2.pkg -target /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Configure SSO (IAM Identity Center)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aws configure sso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Verify credentials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aws sts get-caller-identity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Install UV package manager (for MCP servers)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curl -LsSf https://astral.sh/uv/install.sh | sh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uvx --version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AWS MCP Server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371600" cy="36576"/>
          </a:xfrm>
          <a:prstGeom prst="rect">
            <a:avLst/>
          </a:prstGeom>
          <a:solidFill>
            <a:srgbClr val="C44536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05840"/>
            <a:ext cx="5303520" cy="3840480"/>
          </a:xfrm>
          <a:prstGeom prst="roundRect">
            <a:avLst>
              <a:gd name="adj" fmla="val 2381"/>
            </a:avLst>
          </a:prstGeom>
          <a:solidFill>
            <a:srgbClr val="1E1E1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515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~/.kiro/settings/mcp.json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49377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"mcpServers":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"aws-mcp":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"command": "uvx",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"args": [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"mcp-proxy-for-aws@latest",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"https://aws-mcp...api.aws/mcp",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"--metadata",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"AWS_REGION=ap-southeast-1"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],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"autoApprove": [...]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852160" y="1005840"/>
            <a:ext cx="3017520" cy="3840480"/>
          </a:xfrm>
          <a:prstGeom prst="roundRect">
            <a:avLst>
              <a:gd name="adj" fmla="val 3030"/>
            </a:avLst>
          </a:prstGeom>
          <a:solidFill>
            <a:srgbClr val="FFF0EB"/>
          </a:solidFill>
          <a:ln/>
        </p:spPr>
      </p:sp>
      <p:sp>
        <p:nvSpPr>
          <p:cNvPr id="8" name="Text 6"/>
          <p:cNvSpPr/>
          <p:nvPr/>
        </p:nvSpPr>
        <p:spPr>
          <a:xfrm>
            <a:off x="6035040" y="11430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4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Checklist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17920" y="16459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☑"/>
            </a:pPr>
            <a:r>
              <a:rPr lang="en-US" sz="10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Kiro Panel → MCP Servers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217920" y="208483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☑"/>
            </a:pPr>
            <a:r>
              <a:rPr lang="en-US" sz="10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MCP Config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217920" y="2523744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☑"/>
            </a:pPr>
            <a:r>
              <a:rPr lang="en-US" sz="10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mcp.json config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217920" y="2962656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☑"/>
            </a:pPr>
            <a:r>
              <a:rPr lang="en-US" sz="10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AWS_REGION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217920" y="340156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☑"/>
            </a:pPr>
            <a:r>
              <a:rPr lang="en-US" sz="10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AWS_PROFILE (optional)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217920" y="3840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☑"/>
            </a:pPr>
            <a:r>
              <a:rPr lang="en-US" sz="10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&amp; restart Kiro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17920" y="427939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☑"/>
            </a:pPr>
            <a:r>
              <a:rPr lang="en-US" sz="10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Verify: Status = Connected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Use Steering for Information Gathering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371600" cy="36576"/>
          </a:xfrm>
          <a:prstGeom prst="rect">
            <a:avLst/>
          </a:prstGeom>
          <a:solidFill>
            <a:srgbClr val="C4453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3931920" cy="1645920"/>
          </a:xfrm>
          <a:prstGeom prst="roundRect">
            <a:avLst>
              <a:gd name="adj" fmla="val 5556"/>
            </a:avLst>
          </a:prstGeom>
          <a:solidFill>
            <a:srgbClr val="FFF0E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4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Steering?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context files (.md) that guide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Kiro's AI agent behavior. They define your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conventions, investigation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methodology, and operational standards.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1097280"/>
            <a:ext cx="4206240" cy="1645920"/>
          </a:xfrm>
          <a:prstGeom prst="roundRect">
            <a:avLst>
              <a:gd name="adj" fmla="val 5556"/>
            </a:avLst>
          </a:prstGeom>
          <a:solidFill>
            <a:srgbClr val="F5F5F5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0" y="1188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Set Up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46320" y="16002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▶"/>
            </a:pPr>
            <a:r>
              <a:rPr lang="en-US" sz="10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.kiro/steering/ directory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46320" y="18928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▶"/>
            </a:pPr>
            <a:r>
              <a:rPr lang="en-US" sz="10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.md files with rules &amp; context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46320" y="218541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▶"/>
            </a:pPr>
            <a:r>
              <a:rPr lang="en-US" sz="10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Kiro loads them automatically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46320" y="247802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▶"/>
            </a:pPr>
            <a:r>
              <a:rPr lang="en-US" sz="10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to all agentic interactions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8412480" cy="18288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063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 Structure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31520" y="338328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your-project/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.kiro/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steering/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aws-support-investigation.md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└── aws-agent-rules.md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settings/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└── mcp.json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Tools for AWS Workload Info Gathering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371600" cy="36576"/>
          </a:xfrm>
          <a:prstGeom prst="rect">
            <a:avLst/>
          </a:prstGeom>
          <a:solidFill>
            <a:srgbClr val="C44536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188720"/>
            <a:ext cx="2743200" cy="1554480"/>
          </a:xfrm>
          <a:prstGeom prst="roundRect">
            <a:avLst>
              <a:gd name="adj" fmla="val 5882"/>
            </a:avLst>
          </a:prstGeom>
          <a:solidFill>
            <a:srgbClr val="F5F5F5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5" name="Image 0" descr="icon_6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137160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3258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MCP Server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187452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CloudWatch, CloudTrail,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resources via API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200400" y="1188720"/>
            <a:ext cx="2743200" cy="1554480"/>
          </a:xfrm>
          <a:prstGeom prst="roundRect">
            <a:avLst>
              <a:gd name="adj" fmla="val 5882"/>
            </a:avLst>
          </a:prstGeom>
          <a:solidFill>
            <a:srgbClr val="F5F5F5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9" name="Image 1" descr="icon_7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83280" y="137160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840480" y="13258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Kiro Specs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3383280" y="187452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investigation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with traceability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6126480" y="1188720"/>
            <a:ext cx="2743200" cy="1554480"/>
          </a:xfrm>
          <a:prstGeom prst="roundRect">
            <a:avLst>
              <a:gd name="adj" fmla="val 5882"/>
            </a:avLst>
          </a:prstGeom>
          <a:solidFill>
            <a:srgbClr val="F5F5F5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13" name="Image 2" descr="icon_8.sv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09360" y="137160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766560" y="13258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Trusted Advisor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6309360" y="187452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 checks,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limits, cost optimization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274320" y="3017520"/>
            <a:ext cx="2743200" cy="1554480"/>
          </a:xfrm>
          <a:prstGeom prst="roundRect">
            <a:avLst>
              <a:gd name="adj" fmla="val 5882"/>
            </a:avLst>
          </a:prstGeom>
          <a:solidFill>
            <a:srgbClr val="F5F5F5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17" name="Image 3" descr="icon_9.sv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7200" y="320040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14400" y="31546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Logs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457200" y="370332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analyze logs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MCP integration</a:t>
            </a:r>
            <a:endParaRPr lang="en-US" sz="900" dirty="0"/>
          </a:p>
        </p:txBody>
      </p:sp>
      <p:sp>
        <p:nvSpPr>
          <p:cNvPr id="20" name="Shape 14"/>
          <p:cNvSpPr/>
          <p:nvPr/>
        </p:nvSpPr>
        <p:spPr>
          <a:xfrm>
            <a:off x="3200400" y="3017520"/>
            <a:ext cx="2743200" cy="1554480"/>
          </a:xfrm>
          <a:prstGeom prst="roundRect">
            <a:avLst>
              <a:gd name="adj" fmla="val 5882"/>
            </a:avLst>
          </a:prstGeom>
          <a:solidFill>
            <a:srgbClr val="F5F5F5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21" name="Image 4" descr="icon_10.sv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383280" y="3200400"/>
            <a:ext cx="365760" cy="36576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840480" y="31546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Troubleshooting</a:t>
            </a:r>
            <a:endParaRPr lang="en-US" sz="1100" dirty="0"/>
          </a:p>
        </p:txBody>
      </p:sp>
      <p:sp>
        <p:nvSpPr>
          <p:cNvPr id="23" name="Text 16"/>
          <p:cNvSpPr/>
          <p:nvPr/>
        </p:nvSpPr>
        <p:spPr>
          <a:xfrm>
            <a:off x="3383280" y="370332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Dante scripts, K2 API,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diagnostics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Steering File: Support Investigation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371600" cy="36576"/>
          </a:xfrm>
          <a:prstGeom prst="rect">
            <a:avLst/>
          </a:prstGeom>
          <a:solidFill>
            <a:srgbClr val="C44536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05840"/>
            <a:ext cx="8412480" cy="3840480"/>
          </a:xfrm>
          <a:prstGeom prst="roundRect">
            <a:avLst>
              <a:gd name="adj" fmla="val 2381"/>
            </a:avLst>
          </a:prstGeom>
          <a:solidFill>
            <a:srgbClr val="1E1E1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51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.kiro/steering/aws-support-investigation.md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79552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AWS Support Investigation Rules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Before Creating a Ticket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Always check CloudWatch metrics first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Collect the resource ARN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Capture exact error message + timestamp (UTC)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Use aws___call_aws to describe affected resources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Check CloudTrail for recent API changes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Ticket Format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Subject: [Service] - [Brief Issue Description]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Body must include: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1. Product/Service name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2. Error message (verbatim)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3. Timestamp (UTC)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4. Resource ARN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5. Steps to reproduce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Summarize findings in structured format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Log AWS Support Ticket with Kiro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371600" cy="36576"/>
          </a:xfrm>
          <a:prstGeom prst="rect">
            <a:avLst/>
          </a:prstGeom>
          <a:solidFill>
            <a:srgbClr val="C4453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2D3142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2801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Info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metrics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CloudTrail events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details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017520" y="2103120"/>
            <a:ext cx="457200" cy="0"/>
          </a:xfrm>
          <a:prstGeom prst="line">
            <a:avLst/>
          </a:prstGeom>
          <a:noFill/>
          <a:ln w="25400">
            <a:solidFill>
              <a:srgbClr val="C44536"/>
            </a:solidFill>
            <a:prstDash val="solid"/>
            <a:tailEnd type="arrow"/>
          </a:ln>
        </p:spPr>
      </p:sp>
      <p:sp>
        <p:nvSpPr>
          <p:cNvPr id="8" name="Shape 6"/>
          <p:cNvSpPr/>
          <p:nvPr/>
        </p:nvSpPr>
        <p:spPr>
          <a:xfrm>
            <a:off x="3474720" y="118872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C44536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66160" y="12801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Case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566160" y="173736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support:CreateCase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AWS MCP Server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required fields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035040" y="2103120"/>
            <a:ext cx="457200" cy="0"/>
          </a:xfrm>
          <a:prstGeom prst="line">
            <a:avLst/>
          </a:prstGeom>
          <a:noFill/>
          <a:ln w="25400">
            <a:solidFill>
              <a:srgbClr val="C44536"/>
            </a:solidFill>
            <a:prstDash val="solid"/>
            <a:tailEnd type="arrow"/>
          </a:ln>
        </p:spPr>
      </p:sp>
      <p:sp>
        <p:nvSpPr>
          <p:cNvPr id="12" name="Shape 10"/>
          <p:cNvSpPr/>
          <p:nvPr/>
        </p:nvSpPr>
        <p:spPr>
          <a:xfrm>
            <a:off x="6492240" y="118872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2D3142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83680" y="12801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&amp; Engage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83680" y="173736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number returned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 team notified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with engineer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Fields for CreateCase API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611880"/>
          <a:ext cx="83210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926080"/>
                <a:gridCol w="35661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142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serviceCode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service identifier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amazon-elastic-compute-cloud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categoryCode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 category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instance-issue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severityCode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 level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(production impaired)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subject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Brief description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[EC2] Instance unreachable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body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Detailed info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+ timestamp + ARN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a Support Case — Example Prompt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371600" cy="36576"/>
          </a:xfrm>
          <a:prstGeom prst="rect">
            <a:avLst/>
          </a:prstGeom>
          <a:solidFill>
            <a:srgbClr val="C4453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8321040" cy="3200400"/>
          </a:xfrm>
          <a:prstGeom prst="roundRect">
            <a:avLst>
              <a:gd name="adj" fmla="val 4286"/>
            </a:avLst>
          </a:prstGeom>
          <a:solidFill>
            <a:srgbClr val="F5F5F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344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4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(in Kiro chat):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77724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 AWS support case for Amazon EC2.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C445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Error: "i-0abc123def has entered IMPAIRED status"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2D31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Timestamp: 2026-05-26T08:30:00Z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2D31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ARN: arn:aws:ec2:ap-southeast-1:123456789012:instance/i-0abc123def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Severity: high (production system impaired)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instance has been unreachable since 08:30 UTC.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have already checked CloudWatch and no maintenance events scheduled.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44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Kiro uses aws___call_aws (support:CreateCase) to submit this ticket automatically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5: Operation Team — Access &amp; Engage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371600" cy="36576"/>
          </a:xfrm>
          <a:prstGeom prst="rect">
            <a:avLst/>
          </a:prstGeom>
          <a:solidFill>
            <a:srgbClr val="C44536"/>
          </a:solidFill>
          <a:ln/>
        </p:spPr>
      </p:sp>
      <p:pic>
        <p:nvPicPr>
          <p:cNvPr id="4" name="Image 0" descr="icon_11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1188720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18872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to AWS Support Center</a:t>
            </a:r>
            <a:endParaRPr lang="en-US" sz="1300" dirty="0"/>
          </a:p>
        </p:txBody>
      </p:sp>
      <p:pic>
        <p:nvPicPr>
          <p:cNvPr id="6" name="Image 1" descr="icon_12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8640" y="1828800"/>
            <a:ext cx="274320" cy="274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14400" y="182880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case by case number</a:t>
            </a:r>
            <a:endParaRPr lang="en-US" sz="1300" dirty="0"/>
          </a:p>
        </p:txBody>
      </p:sp>
      <p:pic>
        <p:nvPicPr>
          <p:cNvPr id="8" name="Image 2" descr="icon_13.sv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8640" y="2468880"/>
            <a:ext cx="274320" cy="27432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14400" y="246888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CHAT feature to reply to AWS engineer</a:t>
            </a:r>
            <a:endParaRPr lang="en-US" sz="1300" dirty="0"/>
          </a:p>
        </p:txBody>
      </p:sp>
      <p:pic>
        <p:nvPicPr>
          <p:cNvPr id="10" name="Image 3" descr="icon_14.sv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48640" y="3108960"/>
            <a:ext cx="274320" cy="2743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14400" y="310896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engagement for faster resolution</a:t>
            </a:r>
            <a:endParaRPr lang="en-US" sz="1300" dirty="0"/>
          </a:p>
        </p:txBody>
      </p:sp>
      <p:pic>
        <p:nvPicPr>
          <p:cNvPr id="12" name="Image 4" descr="icon_15.sv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48640" y="3749040"/>
            <a:ext cx="274320" cy="27432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914400" y="374904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watchers for team visibility</a:t>
            </a:r>
            <a:endParaRPr lang="en-US" sz="1300" dirty="0"/>
          </a:p>
        </p:txBody>
      </p:sp>
      <p:sp>
        <p:nvSpPr>
          <p:cNvPr id="14" name="Shape 7"/>
          <p:cNvSpPr/>
          <p:nvPr/>
        </p:nvSpPr>
        <p:spPr>
          <a:xfrm>
            <a:off x="5303520" y="1005840"/>
            <a:ext cx="3566160" cy="3840480"/>
          </a:xfrm>
          <a:prstGeom prst="roundRect">
            <a:avLst>
              <a:gd name="adj" fmla="val 3846"/>
            </a:avLst>
          </a:prstGeom>
          <a:solidFill>
            <a:srgbClr val="FFF0E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8"/>
          <p:cNvSpPr/>
          <p:nvPr/>
        </p:nvSpPr>
        <p:spPr>
          <a:xfrm>
            <a:off x="5486400" y="1188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44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Support Center</a:t>
            </a:r>
            <a:endParaRPr lang="en-US" sz="1300" dirty="0"/>
          </a:p>
        </p:txBody>
      </p:sp>
      <p:pic>
        <p:nvPicPr>
          <p:cNvPr id="16" name="Image 5" descr="icon_16.sv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75120" y="1828800"/>
            <a:ext cx="731520" cy="73152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5577840" y="274320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CHAT button to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real-time channel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AWS Support Engineer</a:t>
            </a:r>
            <a:endParaRPr lang="en-US" sz="1100" dirty="0"/>
          </a:p>
        </p:txBody>
      </p:sp>
      <p:sp>
        <p:nvSpPr>
          <p:cNvPr id="18" name="Text 10"/>
          <p:cNvSpPr/>
          <p:nvPr/>
        </p:nvSpPr>
        <p:spPr>
          <a:xfrm>
            <a:off x="5577840" y="3840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console.aws.amazon.com/support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 Team Workflow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371600" cy="36576"/>
          </a:xfrm>
          <a:prstGeom prst="rect">
            <a:avLst/>
          </a:prstGeom>
          <a:solidFill>
            <a:srgbClr val="C4453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43000"/>
            <a:ext cx="457200" cy="457200"/>
          </a:xfrm>
          <a:prstGeom prst="ellipse">
            <a:avLst/>
          </a:prstGeom>
          <a:solidFill>
            <a:srgbClr val="C4453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" y="1097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case number from Kiro output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144475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ID is returned after ticket creation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85800" y="1645920"/>
            <a:ext cx="0" cy="201168"/>
          </a:xfrm>
          <a:prstGeom prst="line">
            <a:avLst/>
          </a:prstGeom>
          <a:noFill/>
          <a:ln w="19050">
            <a:solidFill>
              <a:srgbClr val="C4453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892808"/>
            <a:ext cx="457200" cy="457200"/>
          </a:xfrm>
          <a:prstGeom prst="ellipse">
            <a:avLst/>
          </a:prstGeom>
          <a:solidFill>
            <a:srgbClr val="C4453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184708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AWS Support Center → search case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21945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console.aws.amazon.com/support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85800" y="2395728"/>
            <a:ext cx="0" cy="201168"/>
          </a:xfrm>
          <a:prstGeom prst="line">
            <a:avLst/>
          </a:prstGeom>
          <a:noFill/>
          <a:ln w="19050">
            <a:solidFill>
              <a:srgbClr val="C4453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642616"/>
            <a:ext cx="457200" cy="457200"/>
          </a:xfrm>
          <a:prstGeom prst="ellipse">
            <a:avLst/>
          </a:prstGeom>
          <a:solidFill>
            <a:srgbClr val="C4453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2596896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CHAT to open real-time channel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294436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for Enterprise Support customers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5800" y="3145536"/>
            <a:ext cx="0" cy="201168"/>
          </a:xfrm>
          <a:prstGeom prst="line">
            <a:avLst/>
          </a:prstGeom>
          <a:noFill/>
          <a:ln w="19050">
            <a:solidFill>
              <a:srgbClr val="C4453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392424"/>
            <a:ext cx="457200" cy="457200"/>
          </a:xfrm>
          <a:prstGeom prst="ellipse">
            <a:avLst/>
          </a:prstGeom>
          <a:solidFill>
            <a:srgbClr val="C4453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" y="3346704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current symptoms to engineer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369417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latest error messages and observations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5800" y="3895344"/>
            <a:ext cx="0" cy="201168"/>
          </a:xfrm>
          <a:prstGeom prst="line">
            <a:avLst/>
          </a:prstGeom>
          <a:noFill/>
          <a:ln w="19050">
            <a:solidFill>
              <a:srgbClr val="C4453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142232"/>
            <a:ext cx="457200" cy="457200"/>
          </a:xfrm>
          <a:prstGeom prst="ellipse">
            <a:avLst/>
          </a:prstGeom>
          <a:solidFill>
            <a:srgbClr val="C4453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97280" y="409651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additional logs/screenshots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97280" y="444398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CloudWatch snippets, screenshots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17920" y="1371600"/>
            <a:ext cx="2651760" cy="2286000"/>
          </a:xfrm>
          <a:prstGeom prst="roundRect">
            <a:avLst>
              <a:gd name="adj" fmla="val 4000"/>
            </a:avLst>
          </a:prstGeom>
          <a:solidFill>
            <a:srgbClr val="FFF8E1"/>
          </a:solidFill>
          <a:ln/>
        </p:spPr>
      </p:sp>
      <p:pic>
        <p:nvPicPr>
          <p:cNvPr id="24" name="Image 0" descr="icon_17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32320" y="1554480"/>
            <a:ext cx="457200" cy="45720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6309360" y="21031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Tips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309360" y="237744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 within 15 min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high-severity cases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Chat window open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real-time updates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D3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Best Practices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371600" cy="36576"/>
          </a:xfrm>
          <a:prstGeom prst="rect">
            <a:avLst/>
          </a:prstGeom>
          <a:solidFill>
            <a:srgbClr val="C44536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18872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3D445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4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Access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Kiro + SSO for unified,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authentication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0" y="118872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3D4456"/>
          </a:solidFill>
          <a:ln/>
        </p:spPr>
      </p:sp>
      <p:sp>
        <p:nvSpPr>
          <p:cNvPr id="8" name="Text 6"/>
          <p:cNvSpPr/>
          <p:nvPr/>
        </p:nvSpPr>
        <p:spPr>
          <a:xfrm>
            <a:off x="3383280" y="1371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4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Workflow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83280" y="182880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 Steering files for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repeatable investigations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26480" y="118872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3D4456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1371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4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Information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309360" y="182880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include: Product,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Error, Timestamp, ARN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463040" y="301752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3D4456"/>
          </a:solidFill>
          <a:ln/>
        </p:spPr>
      </p:sp>
      <p:sp>
        <p:nvSpPr>
          <p:cNvPr id="14" name="Text 12"/>
          <p:cNvSpPr/>
          <p:nvPr/>
        </p:nvSpPr>
        <p:spPr>
          <a:xfrm>
            <a:off x="1645920" y="32004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4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Resolution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645920" y="365760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 team uses Chat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real-time engagement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389120" y="301752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3D4456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32004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4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0" y="365760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Kiro Specs to automate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patterns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Kiro IDE Guide: AWS Support Ticket Workflow</dc:title>
  <dc:subject>PptxGenJS Presentation</dc:subject>
  <dc:creator>AWS TAM Thailand</dc:creator>
  <cp:lastModifiedBy>AWS TAM Thailand</cp:lastModifiedBy>
  <cp:revision>1</cp:revision>
  <dcterms:created xsi:type="dcterms:W3CDTF">2026-05-26T09:28:46Z</dcterms:created>
  <dcterms:modified xsi:type="dcterms:W3CDTF">2026-05-26T09:28:46Z</dcterms:modified>
</cp:coreProperties>
</file>